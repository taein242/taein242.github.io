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 showGuides="1">
      <p:cViewPr varScale="1">
        <p:scale>
          <a:sx n="107" d="100"/>
          <a:sy n="107" d="100"/>
        </p:scale>
        <p:origin x="84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DC5420-E504-449F-99E4-DFF7F61660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A285302-0E75-4EDF-8581-07A88A3E5B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D6CE1C-E3C9-40AB-B463-0FBBB60FC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996D1AB-C70F-41DF-A9D6-EF512207B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CB2FE61-019D-4CA5-B7A0-8A2068F10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78941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F162EE-6782-4FFF-B9BF-2349840CB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BFCFA6-C7A5-46B4-9524-1E24639B3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221079B-0D0B-4EF7-9626-1BB631CDC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BD4E27C-6D3F-4225-BCB6-C8423F64F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A305F5-DA29-4A6D-B321-0FEF0DB0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2702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487DC5-4011-4B3D-AD7F-4206A7C8D1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216760-83B7-44D5-98CD-9836B81BA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42BD83-8468-49AA-B87A-03CCD5E0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BECD2-4867-4FB5-B150-7BD556884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DB2757-1A66-49C0-9726-3A94D19F0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2992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582D24-9EC0-45D4-A028-EFDEA901A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3FFB45-A218-4BAC-88D0-DC11C408B1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D4232D3-1754-42E0-9168-61E170F922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2ADBA0-A9DD-4484-BCAD-B99378190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B5514-07DF-492C-97C0-3CE81FB6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9339F7-96C7-4055-A86A-F950950E3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82543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D4B6FE-4839-4A4F-82BF-30CFB8FF3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90CA96-289C-4404-9BC6-2AB0A224E5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4BB3478-977F-457A-8FFE-9C494A01E0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1726CEC-0E7C-48CE-8D3D-8827844B2F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207CD97-4BF5-4D7D-8D36-595581BA2A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98286B1-B067-4E70-9DC3-138B5F956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94AA95-DB5F-48B8-A3A6-1A2C8B7EA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15E81F-48EA-4CA1-8DEE-CCB513BC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391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09D33B-42A9-4FC2-A563-B005D34809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D220FCC-E0F4-4935-B6AC-D5D313C89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E04579-5DB5-46E8-AE04-932BF83FE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542466-CD82-4A85-AB21-CE43D49CA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7952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6437AEE-D54B-41CE-B5A5-9759F4D5A8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0F6C75-1336-4B7B-AEBB-786A786F34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4EFFF5-A994-4FC2-9656-341048B9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495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2BE38D-3DC2-46A8-9BF6-5A7841309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53974CF-39DC-4646-A0EF-D7F309AC9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FCE5AFB-1CBE-420D-AC43-C0115B40B8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002741C-29F5-4FA6-9ECA-FAB90417E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A1F8AE5-8B72-460F-8122-073C216E3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96F41BB-7D08-4B80-93C7-52A2D4ECA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0770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DA0894-53F3-4983-9C6C-96D22A22F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3FF3992-BCEB-4644-B8BF-6F806DC780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2B63A5-62D4-4DAA-9E68-3D6CF15E05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476D133-E188-420D-A995-B42BED2AB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F950B6-F5FA-4750-A9A0-1BCFAD30F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7646CB-722A-4F98-BDB7-6B1A7BF2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9457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F29E6-EC25-4A67-9EC9-D3B801F5C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AF10C2-CDB9-4647-BA6A-DBEC44245F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90CCE8E-F11A-4315-8C32-68CF138CF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344D5F-8AB6-4AA5-8D50-A4B395AF1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07E6329-50BC-4C2C-A1D2-CFA246331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6160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929E7F8-927B-49D5-B47B-2DC3784B41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DF625F7-220F-4A68-91E6-FDE3EBB6D5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93028-E8F7-49CB-B0FA-AAA997362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029C1AF-483D-4603-ACAF-890121570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57B6CE-8933-48AD-A574-365DF3995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7113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F1BF85C6-30C3-4E10-A649-F0AB23071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2EA460C-BBFC-453E-A382-87EA59B200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149D420-0F45-4CBF-927D-A8C754D350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1F8EB7-D701-4AE0-A1BF-4C5BD762FF6E}" type="datetimeFigureOut">
              <a:rPr lang="ko-KR" altLang="en-US" smtClean="0"/>
              <a:t>2025-12-20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69EBAD-5D5D-4F31-A814-226DD8A3F6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CDDF1D4-932E-4BA0-B55D-5EE3FC8AEA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CB350-BC86-47A5-92A8-7A011A27B9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417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3D354-64A6-4FB4-86D8-BA70F62146F6}"/>
              </a:ext>
            </a:extLst>
          </p:cNvPr>
          <p:cNvSpPr/>
          <p:nvPr/>
        </p:nvSpPr>
        <p:spPr>
          <a:xfrm>
            <a:off x="568411" y="308919"/>
            <a:ext cx="1927654" cy="8526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Crawling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569D84-688D-45D4-900D-FA13F0DABBBB}"/>
              </a:ext>
            </a:extLst>
          </p:cNvPr>
          <p:cNvSpPr/>
          <p:nvPr/>
        </p:nvSpPr>
        <p:spPr>
          <a:xfrm>
            <a:off x="568411" y="1635211"/>
            <a:ext cx="1927654" cy="8526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Morphological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83C639-3667-4811-A151-19B35418C363}"/>
              </a:ext>
            </a:extLst>
          </p:cNvPr>
          <p:cNvSpPr txBox="1"/>
          <p:nvPr/>
        </p:nvSpPr>
        <p:spPr>
          <a:xfrm>
            <a:off x="2693773" y="550561"/>
            <a:ext cx="6203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Collect Korean data related with “Pet Loss Syndrome”</a:t>
            </a: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00AE10-9A5B-4254-81D1-B575BB44388F}"/>
              </a:ext>
            </a:extLst>
          </p:cNvPr>
          <p:cNvSpPr txBox="1"/>
          <p:nvPr/>
        </p:nvSpPr>
        <p:spPr>
          <a:xfrm>
            <a:off x="2693773" y="1876853"/>
            <a:ext cx="62030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Extract verbs and adjectives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9773-25FB-4E37-AA3D-1B6468CC2BF8}"/>
              </a:ext>
            </a:extLst>
          </p:cNvPr>
          <p:cNvSpPr/>
          <p:nvPr/>
        </p:nvSpPr>
        <p:spPr>
          <a:xfrm>
            <a:off x="568411" y="2957384"/>
            <a:ext cx="1927654" cy="8526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Lemmatize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21D382-FA39-4854-94F3-0E877D740B18}"/>
              </a:ext>
            </a:extLst>
          </p:cNvPr>
          <p:cNvSpPr/>
          <p:nvPr/>
        </p:nvSpPr>
        <p:spPr>
          <a:xfrm>
            <a:off x="568411" y="4160109"/>
            <a:ext cx="1927654" cy="8526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Tf-idf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E7879D-B469-4DDB-A85B-3991E90472E1}"/>
              </a:ext>
            </a:extLst>
          </p:cNvPr>
          <p:cNvSpPr/>
          <p:nvPr/>
        </p:nvSpPr>
        <p:spPr>
          <a:xfrm>
            <a:off x="568411" y="5416380"/>
            <a:ext cx="1927654" cy="85261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Indicator per factor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06EB7CD-673E-4B31-9C36-E2CBD1EC0DC2}"/>
              </a:ext>
            </a:extLst>
          </p:cNvPr>
          <p:cNvSpPr txBox="1"/>
          <p:nvPr/>
        </p:nvSpPr>
        <p:spPr>
          <a:xfrm>
            <a:off x="2693773" y="5416380"/>
            <a:ext cx="94982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Select top 5% important 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Tag selected words into grief, anger, or guilt factor based on pet bereavement questionnaire</a:t>
            </a:r>
          </a:p>
        </p:txBody>
      </p:sp>
    </p:spTree>
    <p:extLst>
      <p:ext uri="{BB962C8B-B14F-4D97-AF65-F5344CB8AC3E}">
        <p14:creationId xmlns:p14="http://schemas.microsoft.com/office/powerpoint/2010/main" val="199310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BD23D354-64A6-4FB4-86D8-BA70F62146F6}"/>
              </a:ext>
            </a:extLst>
          </p:cNvPr>
          <p:cNvSpPr/>
          <p:nvPr/>
        </p:nvSpPr>
        <p:spPr>
          <a:xfrm>
            <a:off x="568408" y="311241"/>
            <a:ext cx="3240000" cy="40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Crawling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4E7879D-B469-4DDB-A85B-3991E90472E1}"/>
              </a:ext>
            </a:extLst>
          </p:cNvPr>
          <p:cNvSpPr/>
          <p:nvPr/>
        </p:nvSpPr>
        <p:spPr>
          <a:xfrm>
            <a:off x="568408" y="5145656"/>
            <a:ext cx="3647331" cy="852616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Indicator for grief, guilt, and anger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(Top 5 % frequent words)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BD4090DA-E82A-4AB3-8880-99777CDE2F38}"/>
              </a:ext>
            </a:extLst>
          </p:cNvPr>
          <p:cNvSpPr/>
          <p:nvPr/>
        </p:nvSpPr>
        <p:spPr>
          <a:xfrm>
            <a:off x="8228691" y="316775"/>
            <a:ext cx="3240000" cy="40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 input from user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6C607FC0-FC22-4492-9D76-F463E47EDF76}"/>
              </a:ext>
            </a:extLst>
          </p:cNvPr>
          <p:cNvSpPr/>
          <p:nvPr/>
        </p:nvSpPr>
        <p:spPr>
          <a:xfrm>
            <a:off x="8514606" y="6008651"/>
            <a:ext cx="3240000" cy="62738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Stochastic Gradient Descent 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Classifier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6EF73E82-45D5-4CF8-982B-6DB556990FE6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3808408" y="512318"/>
            <a:ext cx="1297982" cy="741195"/>
          </a:xfrm>
          <a:prstGeom prst="bentConnector3">
            <a:avLst>
              <a:gd name="adj1" fmla="val 9986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B9653EA2-7BE6-4FF3-A497-141D1FC7097C}"/>
              </a:ext>
            </a:extLst>
          </p:cNvPr>
          <p:cNvCxnSpPr>
            <a:cxnSpLocks/>
            <a:stCxn id="13" idx="1"/>
          </p:cNvCxnSpPr>
          <p:nvPr/>
        </p:nvCxnSpPr>
        <p:spPr>
          <a:xfrm rot="10800000" flipV="1">
            <a:off x="6856021" y="517851"/>
            <a:ext cx="1372670" cy="749027"/>
          </a:xfrm>
          <a:prstGeom prst="bentConnector3">
            <a:avLst>
              <a:gd name="adj1" fmla="val 99744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569D84-688D-45D4-900D-FA13F0DABBBB}"/>
              </a:ext>
            </a:extLst>
          </p:cNvPr>
          <p:cNvSpPr/>
          <p:nvPr/>
        </p:nvSpPr>
        <p:spPr>
          <a:xfrm>
            <a:off x="4057135" y="1266879"/>
            <a:ext cx="4077730" cy="7166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Morphological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Analysis</a:t>
            </a:r>
          </a:p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Part-of-Speech (POS) Tagging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0009773-25FB-4E37-AA3D-1B6468CC2BF8}"/>
              </a:ext>
            </a:extLst>
          </p:cNvPr>
          <p:cNvSpPr/>
          <p:nvPr/>
        </p:nvSpPr>
        <p:spPr>
          <a:xfrm>
            <a:off x="4057133" y="2372643"/>
            <a:ext cx="4077730" cy="40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Lemmatize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221D382-FA39-4854-94F3-0E877D740B18}"/>
              </a:ext>
            </a:extLst>
          </p:cNvPr>
          <p:cNvSpPr/>
          <p:nvPr/>
        </p:nvSpPr>
        <p:spPr>
          <a:xfrm>
            <a:off x="4057133" y="3163871"/>
            <a:ext cx="4077729" cy="402154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Cleaning stop words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2631298B-0249-4DC6-9C59-523DE713211E}"/>
              </a:ext>
            </a:extLst>
          </p:cNvPr>
          <p:cNvSpPr/>
          <p:nvPr/>
        </p:nvSpPr>
        <p:spPr>
          <a:xfrm>
            <a:off x="4057134" y="3955098"/>
            <a:ext cx="4077729" cy="71669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Term Frequency-Inverse Document Frequency (TF-IDF)</a:t>
            </a:r>
            <a:endParaRPr lang="ko-KR" altLang="en-US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0896C608-EF44-4832-B774-58119D7417EC}"/>
              </a:ext>
            </a:extLst>
          </p:cNvPr>
          <p:cNvCxnSpPr>
            <a:cxnSpLocks/>
          </p:cNvCxnSpPr>
          <p:nvPr/>
        </p:nvCxnSpPr>
        <p:spPr>
          <a:xfrm flipH="1">
            <a:off x="5106390" y="1983569"/>
            <a:ext cx="2" cy="389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23EBE0AB-7E75-449D-9F39-BB8911B28876}"/>
              </a:ext>
            </a:extLst>
          </p:cNvPr>
          <p:cNvCxnSpPr>
            <a:cxnSpLocks/>
          </p:cNvCxnSpPr>
          <p:nvPr/>
        </p:nvCxnSpPr>
        <p:spPr>
          <a:xfrm>
            <a:off x="5106390" y="2774797"/>
            <a:ext cx="0" cy="389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73B8533-3EFC-4DEA-863A-89DE91CA7DEF}"/>
              </a:ext>
            </a:extLst>
          </p:cNvPr>
          <p:cNvCxnSpPr>
            <a:cxnSpLocks/>
          </p:cNvCxnSpPr>
          <p:nvPr/>
        </p:nvCxnSpPr>
        <p:spPr>
          <a:xfrm>
            <a:off x="5106390" y="3566025"/>
            <a:ext cx="1" cy="3890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연결선: 꺾임 26">
            <a:extLst>
              <a:ext uri="{FF2B5EF4-FFF2-40B4-BE49-F238E27FC236}">
                <a16:creationId xmlns:a16="http://schemas.microsoft.com/office/drawing/2014/main" id="{32B225E9-0103-4E56-923B-B24F9C0D66D0}"/>
              </a:ext>
            </a:extLst>
          </p:cNvPr>
          <p:cNvCxnSpPr>
            <a:cxnSpLocks/>
          </p:cNvCxnSpPr>
          <p:nvPr/>
        </p:nvCxnSpPr>
        <p:spPr>
          <a:xfrm rot="5400000">
            <a:off x="4166745" y="4727327"/>
            <a:ext cx="893639" cy="795646"/>
          </a:xfrm>
          <a:prstGeom prst="bentConnector3">
            <a:avLst>
              <a:gd name="adj1" fmla="val 10049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연결선: 꺾임 125">
            <a:extLst>
              <a:ext uri="{FF2B5EF4-FFF2-40B4-BE49-F238E27FC236}">
                <a16:creationId xmlns:a16="http://schemas.microsoft.com/office/drawing/2014/main" id="{678A72DF-A922-4D4B-A692-65176CEB8816}"/>
              </a:ext>
            </a:extLst>
          </p:cNvPr>
          <p:cNvCxnSpPr>
            <a:cxnSpLocks/>
          </p:cNvCxnSpPr>
          <p:nvPr/>
        </p:nvCxnSpPr>
        <p:spPr>
          <a:xfrm>
            <a:off x="5106392" y="4671788"/>
            <a:ext cx="3408214" cy="1812139"/>
          </a:xfrm>
          <a:prstGeom prst="bentConnector3">
            <a:avLst>
              <a:gd name="adj1" fmla="val 156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직선 화살표 연결선 159">
            <a:extLst>
              <a:ext uri="{FF2B5EF4-FFF2-40B4-BE49-F238E27FC236}">
                <a16:creationId xmlns:a16="http://schemas.microsoft.com/office/drawing/2014/main" id="{51FD3248-A26C-49B7-AD2A-9C0AE0704801}"/>
              </a:ext>
            </a:extLst>
          </p:cNvPr>
          <p:cNvCxnSpPr>
            <a:cxnSpLocks/>
          </p:cNvCxnSpPr>
          <p:nvPr/>
        </p:nvCxnSpPr>
        <p:spPr>
          <a:xfrm flipH="1">
            <a:off x="6856021" y="1990109"/>
            <a:ext cx="2" cy="389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직선 화살표 연결선 160">
            <a:extLst>
              <a:ext uri="{FF2B5EF4-FFF2-40B4-BE49-F238E27FC236}">
                <a16:creationId xmlns:a16="http://schemas.microsoft.com/office/drawing/2014/main" id="{F4C4B161-08A6-41F1-A773-D4D7D92FFB7A}"/>
              </a:ext>
            </a:extLst>
          </p:cNvPr>
          <p:cNvCxnSpPr>
            <a:cxnSpLocks/>
          </p:cNvCxnSpPr>
          <p:nvPr/>
        </p:nvCxnSpPr>
        <p:spPr>
          <a:xfrm>
            <a:off x="6856021" y="2781337"/>
            <a:ext cx="0" cy="389074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직선 화살표 연결선 161">
            <a:extLst>
              <a:ext uri="{FF2B5EF4-FFF2-40B4-BE49-F238E27FC236}">
                <a16:creationId xmlns:a16="http://schemas.microsoft.com/office/drawing/2014/main" id="{052440EA-0CB9-41D9-83FB-85DF6955DA9B}"/>
              </a:ext>
            </a:extLst>
          </p:cNvPr>
          <p:cNvCxnSpPr>
            <a:cxnSpLocks/>
          </p:cNvCxnSpPr>
          <p:nvPr/>
        </p:nvCxnSpPr>
        <p:spPr>
          <a:xfrm>
            <a:off x="6856021" y="3572565"/>
            <a:ext cx="1" cy="389073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연결선: 꺾임 171">
            <a:extLst>
              <a:ext uri="{FF2B5EF4-FFF2-40B4-BE49-F238E27FC236}">
                <a16:creationId xmlns:a16="http://schemas.microsoft.com/office/drawing/2014/main" id="{A0662A86-268A-4F28-A971-0FBD8A622245}"/>
              </a:ext>
            </a:extLst>
          </p:cNvPr>
          <p:cNvCxnSpPr>
            <a:cxnSpLocks/>
          </p:cNvCxnSpPr>
          <p:nvPr/>
        </p:nvCxnSpPr>
        <p:spPr>
          <a:xfrm>
            <a:off x="6911439" y="4671788"/>
            <a:ext cx="1603167" cy="1507921"/>
          </a:xfrm>
          <a:prstGeom prst="bentConnector3">
            <a:avLst>
              <a:gd name="adj1" fmla="val -2222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39786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1741</TotalTime>
  <Words>87</Words>
  <Application>Microsoft Office PowerPoint</Application>
  <PresentationFormat>와이드스크린</PresentationFormat>
  <Paragraphs>20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LeeTaein</dc:creator>
  <cp:lastModifiedBy>LeeTaein</cp:lastModifiedBy>
  <cp:revision>16</cp:revision>
  <dcterms:created xsi:type="dcterms:W3CDTF">2025-10-26T08:17:39Z</dcterms:created>
  <dcterms:modified xsi:type="dcterms:W3CDTF">2025-12-20T11:16:04Z</dcterms:modified>
</cp:coreProperties>
</file>